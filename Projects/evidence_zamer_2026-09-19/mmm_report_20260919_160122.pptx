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ln w="28575">
              <a:solidFill>
                <a:srgbClr val="C5A46D"/>
              </a:solidFill>
            </a:ln>
          </c:spPr>
          <c:marker>
            <c:symbol val="circle"/>
            <c:size val="6"/>
            <c:spPr>
              <a:solidFill>
                <a:srgbClr val="C5A46D"/>
              </a:solidFill>
              <a:ln>
                <a:solidFill>
                  <a:srgbClr val="C5A46D"/>
                </a:solidFill>
              </a:ln>
            </c:spPr>
          </c:marker>
          <c:cat>
            <c:strRef>
              <c:f>Sheet1!$A$2:$A$49</c:f>
              <c:strCache>
                <c:ptCount val="48"/>
                <c:pt idx="0">
                  <c:v>01.22</c:v>
                </c:pt>
                <c:pt idx="1">
                  <c:v>02.22</c:v>
                </c:pt>
                <c:pt idx="2">
                  <c:v>03.22</c:v>
                </c:pt>
                <c:pt idx="3">
                  <c:v>04.22</c:v>
                </c:pt>
                <c:pt idx="4">
                  <c:v>05.22</c:v>
                </c:pt>
                <c:pt idx="5">
                  <c:v>06.22</c:v>
                </c:pt>
                <c:pt idx="6">
                  <c:v>07.22</c:v>
                </c:pt>
                <c:pt idx="7">
                  <c:v>08.22</c:v>
                </c:pt>
                <c:pt idx="8">
                  <c:v>09.22</c:v>
                </c:pt>
                <c:pt idx="9">
                  <c:v>10.22</c:v>
                </c:pt>
                <c:pt idx="10">
                  <c:v>11.22</c:v>
                </c:pt>
                <c:pt idx="11">
                  <c:v>12.22</c:v>
                </c:pt>
                <c:pt idx="12">
                  <c:v>01.23</c:v>
                </c:pt>
                <c:pt idx="13">
                  <c:v>02.23</c:v>
                </c:pt>
                <c:pt idx="14">
                  <c:v>03.23</c:v>
                </c:pt>
                <c:pt idx="15">
                  <c:v>04.23</c:v>
                </c:pt>
                <c:pt idx="16">
                  <c:v>05.23</c:v>
                </c:pt>
                <c:pt idx="17">
                  <c:v>06.23</c:v>
                </c:pt>
                <c:pt idx="18">
                  <c:v>07.23</c:v>
                </c:pt>
                <c:pt idx="19">
                  <c:v>08.23</c:v>
                </c:pt>
                <c:pt idx="20">
                  <c:v>09.23</c:v>
                </c:pt>
                <c:pt idx="21">
                  <c:v>10.23</c:v>
                </c:pt>
                <c:pt idx="22">
                  <c:v>11.23</c:v>
                </c:pt>
                <c:pt idx="23">
                  <c:v>12.23</c:v>
                </c:pt>
                <c:pt idx="24">
                  <c:v>01.24</c:v>
                </c:pt>
                <c:pt idx="25">
                  <c:v>02.24</c:v>
                </c:pt>
                <c:pt idx="26">
                  <c:v>03.24</c:v>
                </c:pt>
                <c:pt idx="27">
                  <c:v>04.24</c:v>
                </c:pt>
                <c:pt idx="28">
                  <c:v>05.24</c:v>
                </c:pt>
                <c:pt idx="29">
                  <c:v>06.24</c:v>
                </c:pt>
                <c:pt idx="30">
                  <c:v>07.24</c:v>
                </c:pt>
                <c:pt idx="31">
                  <c:v>08.24</c:v>
                </c:pt>
                <c:pt idx="32">
                  <c:v>09.24</c:v>
                </c:pt>
                <c:pt idx="33">
                  <c:v>10.24</c:v>
                </c:pt>
                <c:pt idx="34">
                  <c:v>11.24</c:v>
                </c:pt>
                <c:pt idx="35">
                  <c:v>12.24</c:v>
                </c:pt>
                <c:pt idx="36">
                  <c:v>01.25</c:v>
                </c:pt>
                <c:pt idx="37">
                  <c:v>02.25</c:v>
                </c:pt>
                <c:pt idx="38">
                  <c:v>03.25</c:v>
                </c:pt>
                <c:pt idx="39">
                  <c:v>04.25</c:v>
                </c:pt>
                <c:pt idx="40">
                  <c:v>05.25</c:v>
                </c:pt>
                <c:pt idx="41">
                  <c:v>06.25</c:v>
                </c:pt>
                <c:pt idx="42">
                  <c:v>07.25</c:v>
                </c:pt>
                <c:pt idx="43">
                  <c:v>08.25</c:v>
                </c:pt>
                <c:pt idx="44">
                  <c:v>09.25</c:v>
                </c:pt>
                <c:pt idx="45">
                  <c:v>10.25</c:v>
                </c:pt>
                <c:pt idx="46">
                  <c:v>11.25</c:v>
                </c:pt>
                <c:pt idx="47">
                  <c:v>12.25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175384601.0</c:v>
                </c:pt>
                <c:pt idx="1">
                  <c:v>173654637.0</c:v>
                </c:pt>
                <c:pt idx="2">
                  <c:v>153808915.0</c:v>
                </c:pt>
                <c:pt idx="3">
                  <c:v>153106048.0</c:v>
                </c:pt>
                <c:pt idx="4">
                  <c:v>155618881.0</c:v>
                </c:pt>
                <c:pt idx="5">
                  <c:v>152372661.0</c:v>
                </c:pt>
                <c:pt idx="6">
                  <c:v>158295167.0</c:v>
                </c:pt>
                <c:pt idx="7">
                  <c:v>170744566.0</c:v>
                </c:pt>
                <c:pt idx="8">
                  <c:v>180533086.0</c:v>
                </c:pt>
                <c:pt idx="9">
                  <c:v>192114122.0</c:v>
                </c:pt>
                <c:pt idx="10">
                  <c:v>190037330.0</c:v>
                </c:pt>
                <c:pt idx="11">
                  <c:v>217960685.0</c:v>
                </c:pt>
                <c:pt idx="12">
                  <c:v>204658751.0</c:v>
                </c:pt>
                <c:pt idx="13">
                  <c:v>201122730.0</c:v>
                </c:pt>
                <c:pt idx="14">
                  <c:v>191597036.0</c:v>
                </c:pt>
                <c:pt idx="15">
                  <c:v>159346250.0</c:v>
                </c:pt>
                <c:pt idx="16">
                  <c:v>159227342.0</c:v>
                </c:pt>
                <c:pt idx="17">
                  <c:v>156389867.0</c:v>
                </c:pt>
                <c:pt idx="18">
                  <c:v>138471764.0</c:v>
                </c:pt>
                <c:pt idx="19">
                  <c:v>152128924.0</c:v>
                </c:pt>
                <c:pt idx="20">
                  <c:v>173237077.0</c:v>
                </c:pt>
                <c:pt idx="21">
                  <c:v>187224020.0</c:v>
                </c:pt>
                <c:pt idx="22">
                  <c:v>201189982.0</c:v>
                </c:pt>
                <c:pt idx="23">
                  <c:v>218714701.0</c:v>
                </c:pt>
                <c:pt idx="24">
                  <c:v>208503440.0</c:v>
                </c:pt>
                <c:pt idx="25">
                  <c:v>198327020.0</c:v>
                </c:pt>
                <c:pt idx="26">
                  <c:v>161062794.0</c:v>
                </c:pt>
                <c:pt idx="27">
                  <c:v>144988599.0</c:v>
                </c:pt>
                <c:pt idx="28">
                  <c:v>139781536.0</c:v>
                </c:pt>
                <c:pt idx="29">
                  <c:v>148421684.0</c:v>
                </c:pt>
                <c:pt idx="30">
                  <c:v>158830871.0</c:v>
                </c:pt>
                <c:pt idx="31">
                  <c:v>141698908.0</c:v>
                </c:pt>
                <c:pt idx="32">
                  <c:v>153963767.0</c:v>
                </c:pt>
                <c:pt idx="33">
                  <c:v>177495093.0</c:v>
                </c:pt>
                <c:pt idx="34">
                  <c:v>166606591.0</c:v>
                </c:pt>
                <c:pt idx="35">
                  <c:v>183387190.0</c:v>
                </c:pt>
                <c:pt idx="36">
                  <c:v>193335402.0</c:v>
                </c:pt>
                <c:pt idx="37">
                  <c:v>174390089.0</c:v>
                </c:pt>
                <c:pt idx="38">
                  <c:v>167899653.0</c:v>
                </c:pt>
                <c:pt idx="39">
                  <c:v>147660943.0</c:v>
                </c:pt>
                <c:pt idx="40">
                  <c:v>149611708.0</c:v>
                </c:pt>
                <c:pt idx="41">
                  <c:v>158064536.0</c:v>
                </c:pt>
                <c:pt idx="42">
                  <c:v>165369579.0</c:v>
                </c:pt>
                <c:pt idx="43">
                  <c:v>140969130.0</c:v>
                </c:pt>
                <c:pt idx="44">
                  <c:v>192936667.0</c:v>
                </c:pt>
                <c:pt idx="45">
                  <c:v>190601769.0</c:v>
                </c:pt>
                <c:pt idx="46">
                  <c:v>203194545.0</c:v>
                </c:pt>
                <c:pt idx="47">
                  <c:v>183613753.0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19050">
              <a:solidFill>
                <a:srgbClr val="99ADC2"/>
              </a:solidFill>
              <a:prstDash val="dash"/>
            </a:ln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01.22</c:v>
                </c:pt>
                <c:pt idx="1">
                  <c:v>02.22</c:v>
                </c:pt>
                <c:pt idx="2">
                  <c:v>03.22</c:v>
                </c:pt>
                <c:pt idx="3">
                  <c:v>04.22</c:v>
                </c:pt>
                <c:pt idx="4">
                  <c:v>05.22</c:v>
                </c:pt>
                <c:pt idx="5">
                  <c:v>06.22</c:v>
                </c:pt>
                <c:pt idx="6">
                  <c:v>07.22</c:v>
                </c:pt>
                <c:pt idx="7">
                  <c:v>08.22</c:v>
                </c:pt>
                <c:pt idx="8">
                  <c:v>09.22</c:v>
                </c:pt>
                <c:pt idx="9">
                  <c:v>10.22</c:v>
                </c:pt>
                <c:pt idx="10">
                  <c:v>11.22</c:v>
                </c:pt>
                <c:pt idx="11">
                  <c:v>12.22</c:v>
                </c:pt>
                <c:pt idx="12">
                  <c:v>01.23</c:v>
                </c:pt>
                <c:pt idx="13">
                  <c:v>02.23</c:v>
                </c:pt>
                <c:pt idx="14">
                  <c:v>03.23</c:v>
                </c:pt>
                <c:pt idx="15">
                  <c:v>04.23</c:v>
                </c:pt>
                <c:pt idx="16">
                  <c:v>05.23</c:v>
                </c:pt>
                <c:pt idx="17">
                  <c:v>06.23</c:v>
                </c:pt>
                <c:pt idx="18">
                  <c:v>07.23</c:v>
                </c:pt>
                <c:pt idx="19">
                  <c:v>08.23</c:v>
                </c:pt>
                <c:pt idx="20">
                  <c:v>09.23</c:v>
                </c:pt>
                <c:pt idx="21">
                  <c:v>10.23</c:v>
                </c:pt>
                <c:pt idx="22">
                  <c:v>11.23</c:v>
                </c:pt>
                <c:pt idx="23">
                  <c:v>12.23</c:v>
                </c:pt>
                <c:pt idx="24">
                  <c:v>01.24</c:v>
                </c:pt>
                <c:pt idx="25">
                  <c:v>02.24</c:v>
                </c:pt>
                <c:pt idx="26">
                  <c:v>03.24</c:v>
                </c:pt>
                <c:pt idx="27">
                  <c:v>04.24</c:v>
                </c:pt>
                <c:pt idx="28">
                  <c:v>05.24</c:v>
                </c:pt>
                <c:pt idx="29">
                  <c:v>06.24</c:v>
                </c:pt>
                <c:pt idx="30">
                  <c:v>07.24</c:v>
                </c:pt>
                <c:pt idx="31">
                  <c:v>08.24</c:v>
                </c:pt>
                <c:pt idx="32">
                  <c:v>09.24</c:v>
                </c:pt>
                <c:pt idx="33">
                  <c:v>10.24</c:v>
                </c:pt>
                <c:pt idx="34">
                  <c:v>11.24</c:v>
                </c:pt>
                <c:pt idx="35">
                  <c:v>12.24</c:v>
                </c:pt>
                <c:pt idx="36">
                  <c:v>01.25</c:v>
                </c:pt>
                <c:pt idx="37">
                  <c:v>02.25</c:v>
                </c:pt>
                <c:pt idx="38">
                  <c:v>03.25</c:v>
                </c:pt>
                <c:pt idx="39">
                  <c:v>04.25</c:v>
                </c:pt>
                <c:pt idx="40">
                  <c:v>05.25</c:v>
                </c:pt>
                <c:pt idx="41">
                  <c:v>06.25</c:v>
                </c:pt>
                <c:pt idx="42">
                  <c:v>07.25</c:v>
                </c:pt>
                <c:pt idx="43">
                  <c:v>08.25</c:v>
                </c:pt>
                <c:pt idx="44">
                  <c:v>09.25</c:v>
                </c:pt>
                <c:pt idx="45">
                  <c:v>10.25</c:v>
                </c:pt>
                <c:pt idx="46">
                  <c:v>11.25</c:v>
                </c:pt>
                <c:pt idx="47">
                  <c:v>12.25</c:v>
                </c:pt>
              </c:strCache>
            </c: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189405834.4149</c:v>
                </c:pt>
                <c:pt idx="1">
                  <c:v>179770928.6919</c:v>
                </c:pt>
                <c:pt idx="2">
                  <c:v>162945060.4004</c:v>
                </c:pt>
                <c:pt idx="3">
                  <c:v>160000659.775</c:v>
                </c:pt>
                <c:pt idx="4">
                  <c:v>155312025.0395</c:v>
                </c:pt>
                <c:pt idx="5">
                  <c:v>159977024.0123</c:v>
                </c:pt>
                <c:pt idx="6">
                  <c:v>159285308.1201</c:v>
                </c:pt>
                <c:pt idx="7">
                  <c:v>165538123.4152</c:v>
                </c:pt>
                <c:pt idx="8">
                  <c:v>175913538.3021</c:v>
                </c:pt>
                <c:pt idx="9">
                  <c:v>189521224.2674</c:v>
                </c:pt>
                <c:pt idx="10">
                  <c:v>194642627.7704</c:v>
                </c:pt>
                <c:pt idx="11">
                  <c:v>202650359.3794</c:v>
                </c:pt>
                <c:pt idx="12">
                  <c:v>201198065.405</c:v>
                </c:pt>
                <c:pt idx="13">
                  <c:v>195210825.0786</c:v>
                </c:pt>
                <c:pt idx="14">
                  <c:v>179239354.7273</c:v>
                </c:pt>
                <c:pt idx="15">
                  <c:v>157077303.9772</c:v>
                </c:pt>
                <c:pt idx="16">
                  <c:v>157583208.1158</c:v>
                </c:pt>
                <c:pt idx="17">
                  <c:v>156742079.7322</c:v>
                </c:pt>
                <c:pt idx="18">
                  <c:v>147670040.0925</c:v>
                </c:pt>
                <c:pt idx="19">
                  <c:v>160269568.2854</c:v>
                </c:pt>
                <c:pt idx="20">
                  <c:v>174852656.6981</c:v>
                </c:pt>
                <c:pt idx="21">
                  <c:v>187702913.6475</c:v>
                </c:pt>
                <c:pt idx="22">
                  <c:v>197015697.4999</c:v>
                </c:pt>
                <c:pt idx="23">
                  <c:v>201190003.3947</c:v>
                </c:pt>
                <c:pt idx="24">
                  <c:v>203893880.6482</c:v>
                </c:pt>
                <c:pt idx="25">
                  <c:v>195228010.6244</c:v>
                </c:pt>
                <c:pt idx="26">
                  <c:v>168422440.974</c:v>
                </c:pt>
                <c:pt idx="27">
                  <c:v>153139825.8552</c:v>
                </c:pt>
                <c:pt idx="28">
                  <c:v>145744880.2062</c:v>
                </c:pt>
                <c:pt idx="29">
                  <c:v>150999435.0893</c:v>
                </c:pt>
                <c:pt idx="30">
                  <c:v>155329307.0713</c:v>
                </c:pt>
                <c:pt idx="31">
                  <c:v>154637547.8528</c:v>
                </c:pt>
                <c:pt idx="32">
                  <c:v>165025108.8663</c:v>
                </c:pt>
                <c:pt idx="33">
                  <c:v>183999843.3246</c:v>
                </c:pt>
                <c:pt idx="34">
                  <c:v>183147439.8176</c:v>
                </c:pt>
                <c:pt idx="35">
                  <c:v>192763648.5624</c:v>
                </c:pt>
                <c:pt idx="36">
                  <c:v>195055320.8623</c:v>
                </c:pt>
                <c:pt idx="37">
                  <c:v>189577587.7258</c:v>
                </c:pt>
                <c:pt idx="38">
                  <c:v>174358923.5894</c:v>
                </c:pt>
                <c:pt idx="39">
                  <c:v>151410118.207</c:v>
                </c:pt>
                <c:pt idx="40">
                  <c:v>155183066.766</c:v>
                </c:pt>
                <c:pt idx="41">
                  <c:v>160537784.4984</c:v>
                </c:pt>
                <c:pt idx="42">
                  <c:v>160327762.0526</c:v>
                </c:pt>
                <c:pt idx="43">
                  <c:v>157708451.3233</c:v>
                </c:pt>
                <c:pt idx="44">
                  <c:v>180800146.3865</c:v>
                </c:pt>
                <c:pt idx="45">
                  <c:v>192570192.1119</c:v>
                </c:pt>
                <c:pt idx="46">
                  <c:v>198835019.1604</c:v>
                </c:pt>
                <c:pt idx="47">
                  <c:v>199849192.9811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E3A5F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Продажи, ₽</c:v>
                </c:pt>
              </c:strCache>
            </c:strRef>
          </c:tx>
          <c:spPr>
            <a:solidFill>
              <a:srgbClr val="0A6F7A"/>
            </a:solidFill>
          </c:spPr>
          <c:dPt>
            <c:idx val="0"/>
            <c:spPr>
              <a:solidFill>
                <a:srgbClr val="99ADC2"/>
              </a:solidFill>
            </c:spPr>
          </c:dPt>
          <c:dPt>
            <c:idx val="1"/>
            <c:spPr>
              <a:solidFill>
                <a:srgbClr val="0A6F7A"/>
              </a:solidFill>
            </c:spPr>
          </c:dPt>
          <c:dPt>
            <c:idx val="2"/>
            <c:spPr>
              <a:solidFill>
                <a:srgbClr val="3EB661"/>
              </a:solidFill>
            </c:spPr>
          </c:dPt>
          <c:dPt>
            <c:idx val="3"/>
            <c:spPr>
              <a:solidFill>
                <a:srgbClr val="D3086F"/>
              </a:solidFill>
            </c:spPr>
          </c:dPt>
          <c:dPt>
            <c:idx val="4"/>
            <c:spPr>
              <a:solidFill>
                <a:srgbClr val="FA823C"/>
              </a:solidFill>
            </c:spPr>
          </c:dPt>
          <c:dPt>
            <c:idx val="5"/>
            <c:spPr>
              <a:solidFill>
                <a:srgbClr val="C5A46D"/>
              </a:solidFill>
            </c:spPr>
          </c:dPt>
          <c:cat>
            <c:strRef>
              <c:f>Sheet1!$A$2:$A$7</c:f>
              <c:strCache>
                <c:ptCount val="6"/>
                <c:pt idx="0">
                  <c:v>База</c:v>
                </c:pt>
                <c:pt idx="1">
                  <c:v>performance_spend</c:v>
                </c:pt>
                <c:pt idx="2">
                  <c:v>ooh_spend</c:v>
                </c:pt>
                <c:pt idx="3">
                  <c:v>digital_spend</c:v>
                </c:pt>
                <c:pt idx="4">
                  <c:v>tv_spend</c:v>
                </c:pt>
                <c:pt idx="5">
                  <c:v>Итого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7036940531.0</c:v>
                </c:pt>
                <c:pt idx="1">
                  <c:v>193891038.0</c:v>
                </c:pt>
                <c:pt idx="2">
                  <c:v>311426187.0</c:v>
                </c:pt>
                <c:pt idx="3">
                  <c:v>252340579.0</c:v>
                </c:pt>
                <c:pt idx="4">
                  <c:v>473056075.0</c:v>
                </c:pt>
                <c:pt idx="5">
                  <c:v>8267654410.0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dPt>
            <c:idx val="0"/>
            <c:spPr>
              <a:solidFill>
                <a:srgbClr val="99ADC2"/>
              </a:solidFill>
              <a:ln>
                <a:noFill/>
              </a:ln>
            </c:spPr>
          </c:dPt>
          <c:dPt>
            <c:idx val="1"/>
            <c:spPr>
              <a:solidFill>
                <a:srgbClr val="99ADC2"/>
              </a:solidFill>
              <a:ln>
                <a:noFill/>
              </a:ln>
            </c:spPr>
          </c:dPt>
          <c:dPt>
            <c:idx val="2"/>
            <c:spPr>
              <a:solidFill>
                <a:srgbClr val="99ADC2"/>
              </a:solidFill>
              <a:ln>
                <a:noFill/>
              </a:ln>
            </c:spPr>
          </c:dPt>
          <c:dPt>
            <c:idx val="3"/>
            <c:spPr>
              <a:solidFill>
                <a:srgbClr val="C5A46D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tv</c:v>
                </c:pt>
                <c:pt idx="2">
                  <c:v>ooh</c:v>
                </c:pt>
                <c:pt idx="3">
                  <c:v>performance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0.665</c:v>
                </c:pt>
                <c:pt idx="1">
                  <c:v>0.6708</c:v>
                </c:pt>
                <c:pt idx="2">
                  <c:v>1.3579</c:v>
                </c:pt>
                <c:pt idx="3">
                  <c:v>2.8579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000">
                  <a:solidFill>
                    <a:srgbClr val="1E3A5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0A162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2865849999999996"/>
          <c:min val="0.0"/>
        </c:scaling>
        <c:delete/>
        <c:axPos val="b"/>
        <c:majorGridlines/>
        <c:majorTickMark val="out"/>
        <c:minorTickMark val="none"/>
        <c:tickLblPos val="nextTo"/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База</c:v>
                </c:pt>
              </c:strCache>
            </c:strRef>
          </c:tx>
          <c:spPr>
            <a:solidFill>
              <a:srgbClr val="99ADC2"/>
            </a:solidFill>
          </c:spPr>
          <c:cat>
            <c:strRef>
              <c:f>Sheet1!$A$2:$A$49</c:f>
              <c:strCache>
                <c:ptCount val="48"/>
                <c:pt idx="0">
                  <c:v>01.22</c:v>
                </c:pt>
                <c:pt idx="1">
                  <c:v>02.22</c:v>
                </c:pt>
                <c:pt idx="2">
                  <c:v>03.22</c:v>
                </c:pt>
                <c:pt idx="3">
                  <c:v>04.22</c:v>
                </c:pt>
                <c:pt idx="4">
                  <c:v>05.22</c:v>
                </c:pt>
                <c:pt idx="5">
                  <c:v>06.22</c:v>
                </c:pt>
                <c:pt idx="6">
                  <c:v>07.22</c:v>
                </c:pt>
                <c:pt idx="7">
                  <c:v>08.22</c:v>
                </c:pt>
                <c:pt idx="8">
                  <c:v>09.22</c:v>
                </c:pt>
                <c:pt idx="9">
                  <c:v>10.22</c:v>
                </c:pt>
                <c:pt idx="10">
                  <c:v>11.22</c:v>
                </c:pt>
                <c:pt idx="11">
                  <c:v>12.22</c:v>
                </c:pt>
                <c:pt idx="12">
                  <c:v>01.23</c:v>
                </c:pt>
                <c:pt idx="13">
                  <c:v>02.23</c:v>
                </c:pt>
                <c:pt idx="14">
                  <c:v>03.23</c:v>
                </c:pt>
                <c:pt idx="15">
                  <c:v>04.23</c:v>
                </c:pt>
                <c:pt idx="16">
                  <c:v>05.23</c:v>
                </c:pt>
                <c:pt idx="17">
                  <c:v>06.23</c:v>
                </c:pt>
                <c:pt idx="18">
                  <c:v>07.23</c:v>
                </c:pt>
                <c:pt idx="19">
                  <c:v>08.23</c:v>
                </c:pt>
                <c:pt idx="20">
                  <c:v>09.23</c:v>
                </c:pt>
                <c:pt idx="21">
                  <c:v>10.23</c:v>
                </c:pt>
                <c:pt idx="22">
                  <c:v>11.23</c:v>
                </c:pt>
                <c:pt idx="23">
                  <c:v>12.23</c:v>
                </c:pt>
                <c:pt idx="24">
                  <c:v>01.24</c:v>
                </c:pt>
                <c:pt idx="25">
                  <c:v>02.24</c:v>
                </c:pt>
                <c:pt idx="26">
                  <c:v>03.24</c:v>
                </c:pt>
                <c:pt idx="27">
                  <c:v>04.24</c:v>
                </c:pt>
                <c:pt idx="28">
                  <c:v>05.24</c:v>
                </c:pt>
                <c:pt idx="29">
                  <c:v>06.24</c:v>
                </c:pt>
                <c:pt idx="30">
                  <c:v>07.24</c:v>
                </c:pt>
                <c:pt idx="31">
                  <c:v>08.24</c:v>
                </c:pt>
                <c:pt idx="32">
                  <c:v>09.24</c:v>
                </c:pt>
                <c:pt idx="33">
                  <c:v>10.24</c:v>
                </c:pt>
                <c:pt idx="34">
                  <c:v>11.24</c:v>
                </c:pt>
                <c:pt idx="35">
                  <c:v>12.24</c:v>
                </c:pt>
                <c:pt idx="36">
                  <c:v>01.25</c:v>
                </c:pt>
                <c:pt idx="37">
                  <c:v>02.25</c:v>
                </c:pt>
                <c:pt idx="38">
                  <c:v>03.25</c:v>
                </c:pt>
                <c:pt idx="39">
                  <c:v>04.25</c:v>
                </c:pt>
                <c:pt idx="40">
                  <c:v>05.25</c:v>
                </c:pt>
                <c:pt idx="41">
                  <c:v>06.25</c:v>
                </c:pt>
                <c:pt idx="42">
                  <c:v>07.25</c:v>
                </c:pt>
                <c:pt idx="43">
                  <c:v>08.25</c:v>
                </c:pt>
                <c:pt idx="44">
                  <c:v>09.25</c:v>
                </c:pt>
                <c:pt idx="45">
                  <c:v>10.25</c:v>
                </c:pt>
                <c:pt idx="46">
                  <c:v>11.25</c:v>
                </c:pt>
                <c:pt idx="47">
                  <c:v>12.25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153445812.6</c:v>
                </c:pt>
                <c:pt idx="1">
                  <c:v>158496732.3</c:v>
                </c:pt>
                <c:pt idx="2">
                  <c:v>139238594.8</c:v>
                </c:pt>
                <c:pt idx="3">
                  <c:v>125380262.2</c:v>
                </c:pt>
                <c:pt idx="4">
                  <c:v>129850655.7</c:v>
                </c:pt>
                <c:pt idx="5">
                  <c:v>122644913.7</c:v>
                </c:pt>
                <c:pt idx="6">
                  <c:v>127191703.6</c:v>
                </c:pt>
                <c:pt idx="7">
                  <c:v>137894439.9</c:v>
                </c:pt>
                <c:pt idx="8">
                  <c:v>153518023.8</c:v>
                </c:pt>
                <c:pt idx="9">
                  <c:v>162009090.1</c:v>
                </c:pt>
                <c:pt idx="10">
                  <c:v>162329185.9</c:v>
                </c:pt>
                <c:pt idx="11">
                  <c:v>182318080.7</c:v>
                </c:pt>
                <c:pt idx="12">
                  <c:v>178492469.3</c:v>
                </c:pt>
                <c:pt idx="13">
                  <c:v>171188984.5</c:v>
                </c:pt>
                <c:pt idx="14">
                  <c:v>161382236.2</c:v>
                </c:pt>
                <c:pt idx="15">
                  <c:v>142904388.5</c:v>
                </c:pt>
                <c:pt idx="16">
                  <c:v>131531214.4</c:v>
                </c:pt>
                <c:pt idx="17">
                  <c:v>129111553.0</c:v>
                </c:pt>
                <c:pt idx="18">
                  <c:v>122285980.3</c:v>
                </c:pt>
                <c:pt idx="19">
                  <c:v>125004232.5</c:v>
                </c:pt>
                <c:pt idx="20">
                  <c:v>144973224.5</c:v>
                </c:pt>
                <c:pt idx="21">
                  <c:v>158413109.3</c:v>
                </c:pt>
                <c:pt idx="22">
                  <c:v>168086491.4</c:v>
                </c:pt>
                <c:pt idx="23">
                  <c:v>184968977.6</c:v>
                </c:pt>
                <c:pt idx="24">
                  <c:v>175629238.8</c:v>
                </c:pt>
                <c:pt idx="25">
                  <c:v>169791160.4</c:v>
                </c:pt>
                <c:pt idx="26">
                  <c:v>150310968.5</c:v>
                </c:pt>
                <c:pt idx="27">
                  <c:v>129134406.0</c:v>
                </c:pt>
                <c:pt idx="28">
                  <c:v>123575395.3</c:v>
                </c:pt>
                <c:pt idx="29">
                  <c:v>126536354.0</c:v>
                </c:pt>
                <c:pt idx="30">
                  <c:v>130444303.2</c:v>
                </c:pt>
                <c:pt idx="31">
                  <c:v>123776503.6</c:v>
                </c:pt>
                <c:pt idx="32">
                  <c:v>136073059.5</c:v>
                </c:pt>
                <c:pt idx="33">
                  <c:v>153038014.2</c:v>
                </c:pt>
                <c:pt idx="34">
                  <c:v>149733253.6</c:v>
                </c:pt>
                <c:pt idx="35">
                  <c:v>157593056.0</c:v>
                </c:pt>
                <c:pt idx="36">
                  <c:v>168427809.4</c:v>
                </c:pt>
                <c:pt idx="37">
                  <c:v>152203331.2</c:v>
                </c:pt>
                <c:pt idx="38">
                  <c:v>142340222.1</c:v>
                </c:pt>
                <c:pt idx="39">
                  <c:v>133792152.1</c:v>
                </c:pt>
                <c:pt idx="40">
                  <c:v>123158537.7</c:v>
                </c:pt>
                <c:pt idx="41">
                  <c:v>125761432.4</c:v>
                </c:pt>
                <c:pt idx="42">
                  <c:v>132273954.2</c:v>
                </c:pt>
                <c:pt idx="43">
                  <c:v>122979054.1</c:v>
                </c:pt>
                <c:pt idx="44">
                  <c:v>156892772.7</c:v>
                </c:pt>
                <c:pt idx="45">
                  <c:v>157604649.5</c:v>
                </c:pt>
                <c:pt idx="46">
                  <c:v>168753498.0</c:v>
                </c:pt>
                <c:pt idx="47">
                  <c:v>154457047.4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Медиа</c:v>
                </c:pt>
              </c:strCache>
            </c:strRef>
          </c:tx>
          <c:spPr>
            <a:solidFill>
              <a:srgbClr val="0A6F7A"/>
            </a:solidFill>
          </c:spPr>
          <c:cat>
            <c:strRef>
              <c:f>Sheet1!$A$2:$A$49</c:f>
              <c:strCache>
                <c:ptCount val="48"/>
                <c:pt idx="0">
                  <c:v>01.22</c:v>
                </c:pt>
                <c:pt idx="1">
                  <c:v>02.22</c:v>
                </c:pt>
                <c:pt idx="2">
                  <c:v>03.22</c:v>
                </c:pt>
                <c:pt idx="3">
                  <c:v>04.22</c:v>
                </c:pt>
                <c:pt idx="4">
                  <c:v>05.22</c:v>
                </c:pt>
                <c:pt idx="5">
                  <c:v>06.22</c:v>
                </c:pt>
                <c:pt idx="6">
                  <c:v>07.22</c:v>
                </c:pt>
                <c:pt idx="7">
                  <c:v>08.22</c:v>
                </c:pt>
                <c:pt idx="8">
                  <c:v>09.22</c:v>
                </c:pt>
                <c:pt idx="9">
                  <c:v>10.22</c:v>
                </c:pt>
                <c:pt idx="10">
                  <c:v>11.22</c:v>
                </c:pt>
                <c:pt idx="11">
                  <c:v>12.22</c:v>
                </c:pt>
                <c:pt idx="12">
                  <c:v>01.23</c:v>
                </c:pt>
                <c:pt idx="13">
                  <c:v>02.23</c:v>
                </c:pt>
                <c:pt idx="14">
                  <c:v>03.23</c:v>
                </c:pt>
                <c:pt idx="15">
                  <c:v>04.23</c:v>
                </c:pt>
                <c:pt idx="16">
                  <c:v>05.23</c:v>
                </c:pt>
                <c:pt idx="17">
                  <c:v>06.23</c:v>
                </c:pt>
                <c:pt idx="18">
                  <c:v>07.23</c:v>
                </c:pt>
                <c:pt idx="19">
                  <c:v>08.23</c:v>
                </c:pt>
                <c:pt idx="20">
                  <c:v>09.23</c:v>
                </c:pt>
                <c:pt idx="21">
                  <c:v>10.23</c:v>
                </c:pt>
                <c:pt idx="22">
                  <c:v>11.23</c:v>
                </c:pt>
                <c:pt idx="23">
                  <c:v>12.23</c:v>
                </c:pt>
                <c:pt idx="24">
                  <c:v>01.24</c:v>
                </c:pt>
                <c:pt idx="25">
                  <c:v>02.24</c:v>
                </c:pt>
                <c:pt idx="26">
                  <c:v>03.24</c:v>
                </c:pt>
                <c:pt idx="27">
                  <c:v>04.24</c:v>
                </c:pt>
                <c:pt idx="28">
                  <c:v>05.24</c:v>
                </c:pt>
                <c:pt idx="29">
                  <c:v>06.24</c:v>
                </c:pt>
                <c:pt idx="30">
                  <c:v>07.24</c:v>
                </c:pt>
                <c:pt idx="31">
                  <c:v>08.24</c:v>
                </c:pt>
                <c:pt idx="32">
                  <c:v>09.24</c:v>
                </c:pt>
                <c:pt idx="33">
                  <c:v>10.24</c:v>
                </c:pt>
                <c:pt idx="34">
                  <c:v>11.24</c:v>
                </c:pt>
                <c:pt idx="35">
                  <c:v>12.24</c:v>
                </c:pt>
                <c:pt idx="36">
                  <c:v>01.25</c:v>
                </c:pt>
                <c:pt idx="37">
                  <c:v>02.25</c:v>
                </c:pt>
                <c:pt idx="38">
                  <c:v>03.25</c:v>
                </c:pt>
                <c:pt idx="39">
                  <c:v>04.25</c:v>
                </c:pt>
                <c:pt idx="40">
                  <c:v>05.25</c:v>
                </c:pt>
                <c:pt idx="41">
                  <c:v>06.25</c:v>
                </c:pt>
                <c:pt idx="42">
                  <c:v>07.25</c:v>
                </c:pt>
                <c:pt idx="43">
                  <c:v>08.25</c:v>
                </c:pt>
                <c:pt idx="44">
                  <c:v>09.25</c:v>
                </c:pt>
                <c:pt idx="45">
                  <c:v>10.25</c:v>
                </c:pt>
                <c:pt idx="46">
                  <c:v>11.25</c:v>
                </c:pt>
                <c:pt idx="47">
                  <c:v>12.25</c:v>
                </c:pt>
              </c:strCache>
            </c: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21938788.4</c:v>
                </c:pt>
                <c:pt idx="1">
                  <c:v>15157904.7</c:v>
                </c:pt>
                <c:pt idx="2">
                  <c:v>14570320.2</c:v>
                </c:pt>
                <c:pt idx="3">
                  <c:v>27725785.8</c:v>
                </c:pt>
                <c:pt idx="4">
                  <c:v>25768225.3</c:v>
                </c:pt>
                <c:pt idx="5">
                  <c:v>29727747.3</c:v>
                </c:pt>
                <c:pt idx="6">
                  <c:v>31103463.4</c:v>
                </c:pt>
                <c:pt idx="7">
                  <c:v>32850126.1</c:v>
                </c:pt>
                <c:pt idx="8">
                  <c:v>27015062.2</c:v>
                </c:pt>
                <c:pt idx="9">
                  <c:v>30105031.9</c:v>
                </c:pt>
                <c:pt idx="10">
                  <c:v>27708144.1</c:v>
                </c:pt>
                <c:pt idx="11">
                  <c:v>35642604.3</c:v>
                </c:pt>
                <c:pt idx="12">
                  <c:v>26166281.7</c:v>
                </c:pt>
                <c:pt idx="13">
                  <c:v>29933745.5</c:v>
                </c:pt>
                <c:pt idx="14">
                  <c:v>30214799.8</c:v>
                </c:pt>
                <c:pt idx="15">
                  <c:v>16441861.5</c:v>
                </c:pt>
                <c:pt idx="16">
                  <c:v>27696127.6</c:v>
                </c:pt>
                <c:pt idx="17">
                  <c:v>27278314.0</c:v>
                </c:pt>
                <c:pt idx="18">
                  <c:v>16185783.7</c:v>
                </c:pt>
                <c:pt idx="19">
                  <c:v>27124691.5</c:v>
                </c:pt>
                <c:pt idx="20">
                  <c:v>28263852.5</c:v>
                </c:pt>
                <c:pt idx="21">
                  <c:v>28810910.7</c:v>
                </c:pt>
                <c:pt idx="22">
                  <c:v>33103490.6</c:v>
                </c:pt>
                <c:pt idx="23">
                  <c:v>33745723.4</c:v>
                </c:pt>
                <c:pt idx="24">
                  <c:v>32874201.2</c:v>
                </c:pt>
                <c:pt idx="25">
                  <c:v>28535859.6</c:v>
                </c:pt>
                <c:pt idx="26">
                  <c:v>10751825.5</c:v>
                </c:pt>
                <c:pt idx="27">
                  <c:v>15854193.0</c:v>
                </c:pt>
                <c:pt idx="28">
                  <c:v>16206140.7</c:v>
                </c:pt>
                <c:pt idx="29">
                  <c:v>21885330.0</c:v>
                </c:pt>
                <c:pt idx="30">
                  <c:v>28386567.8</c:v>
                </c:pt>
                <c:pt idx="31">
                  <c:v>17922404.4</c:v>
                </c:pt>
                <c:pt idx="32">
                  <c:v>17890707.5</c:v>
                </c:pt>
                <c:pt idx="33">
                  <c:v>24457078.8</c:v>
                </c:pt>
                <c:pt idx="34">
                  <c:v>16873337.4</c:v>
                </c:pt>
                <c:pt idx="35">
                  <c:v>25794134.0</c:v>
                </c:pt>
                <c:pt idx="36">
                  <c:v>24907592.6</c:v>
                </c:pt>
                <c:pt idx="37">
                  <c:v>22186757.8</c:v>
                </c:pt>
                <c:pt idx="38">
                  <c:v>25559430.9</c:v>
                </c:pt>
                <c:pt idx="39">
                  <c:v>13868790.9</c:v>
                </c:pt>
                <c:pt idx="40">
                  <c:v>26453170.3</c:v>
                </c:pt>
                <c:pt idx="41">
                  <c:v>32303103.6</c:v>
                </c:pt>
                <c:pt idx="42">
                  <c:v>33095624.8</c:v>
                </c:pt>
                <c:pt idx="43">
                  <c:v>17990075.9</c:v>
                </c:pt>
                <c:pt idx="44">
                  <c:v>36043894.3</c:v>
                </c:pt>
                <c:pt idx="45">
                  <c:v>32997119.5</c:v>
                </c:pt>
                <c:pt idx="46">
                  <c:v>34441047.0</c:v>
                </c:pt>
                <c:pt idx="47">
                  <c:v>29156705.6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0,, &quot;М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E3A5F"/>
                </a:solidFill>
                <a:latin typeface="Arial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E3A5F"/>
              </a:solidFill>
              <a:latin typeface="Arial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734495" y="365760"/>
            <a:ext cx="0" cy="6126480"/>
          </a:xfrm>
          <a:prstGeom prst="line">
            <a:avLst/>
          </a:prstGeom>
          <a:ln w="1270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brand_mark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950976" cy="713232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65760" y="868680"/>
            <a:ext cx="11323015" cy="0"/>
          </a:xfrm>
          <a:prstGeom prst="line">
            <a:avLst/>
          </a:prstGeom>
          <a:ln w="6350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9601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ОТЧЁТ ПО МОДЕЛИ МЕДИАМИКСА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114601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800" b="0" i="0">
                <a:solidFill>
                  <a:srgbClr val="0A1628"/>
                </a:solidFill>
                <a:latin typeface="Georgia"/>
              </a:rPr>
              <a:t>Декомпозиция медиабюджета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i="1">
                <a:solidFill>
                  <a:srgbClr val="1E3A5F"/>
                </a:solidFill>
                <a:latin typeface="Georgia"/>
              </a:rPr>
              <a:t>и рекомендации по оптимизации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251960"/>
            <a:ext cx="1280159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5577840"/>
            <a:ext cx="28193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547090"/>
                </a:solidFill>
                <a:latin typeface="Arial"/>
              </a:rPr>
              <a:t>ПОДГОТОВЛЕНО ДЛЯ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33872"/>
            <a:ext cx="28193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A1628"/>
                </a:solidFill>
                <a:latin typeface="Georgia"/>
              </a:rPr>
              <a:t>Synth Fmcg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9363" y="5623559"/>
            <a:ext cx="0" cy="594361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85083" y="5577840"/>
            <a:ext cx="28193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547090"/>
                </a:solidFill>
                <a:latin typeface="Arial"/>
              </a:rPr>
              <a:t>ДАТА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5083" y="5833872"/>
            <a:ext cx="28193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A1628"/>
                </a:solidFill>
                <a:latin typeface="Georgia"/>
              </a:rPr>
              <a:t>19 сентября 2026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58687" y="5623559"/>
            <a:ext cx="0" cy="594361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04407" y="5577840"/>
            <a:ext cx="28193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547090"/>
                </a:solidFill>
                <a:latin typeface="Arial"/>
              </a:rPr>
              <a:t>НОМЕР ОТЧЁТА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4407" y="5833872"/>
            <a:ext cx="28193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A1628"/>
                </a:solidFill>
                <a:latin typeface="Georgia"/>
              </a:rPr>
              <a:t>aurora-mmm-6697593d648b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011" y="5623559"/>
            <a:ext cx="0" cy="594361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23731" y="5577840"/>
            <a:ext cx="281932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547090"/>
                </a:solidFill>
                <a:latin typeface="Arial"/>
              </a:rPr>
              <a:t>КЛАССИФИКАЦИЯ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731" y="5833872"/>
            <a:ext cx="281932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A1628"/>
                </a:solidFill>
                <a:latin typeface="Georgia"/>
              </a:rPr>
              <a:t>Конфиденциально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92240"/>
            <a:ext cx="11323015" cy="0"/>
          </a:xfrm>
          <a:prstGeom prst="line">
            <a:avLst/>
          </a:prstGeom>
          <a:ln w="6350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606540"/>
            <a:ext cx="11323015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547090"/>
                </a:solidFill>
                <a:latin typeface="Arial"/>
              </a:rPr>
              <a:t>© 2026 Aurora AI.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01 / 05 .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0A1628"/>
                </a:solidFill>
                <a:latin typeface="Georgia"/>
              </a:rPr>
              <a:t>Содержание отчёта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37160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16916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5A46D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A1628"/>
                </a:solidFill>
                <a:latin typeface="Georgia"/>
              </a:rPr>
              <a:t>Главное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647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99ADC2"/>
                </a:solidFill>
                <a:latin typeface="Arial"/>
              </a:rPr>
              <a:t>................................................................................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37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0A1628"/>
                </a:solidFill>
                <a:latin typeface="Georgia"/>
              </a:rPr>
              <a:t>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148840"/>
            <a:ext cx="8869680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1488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5A46D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A1628"/>
                </a:solidFill>
                <a:latin typeface="Georgia"/>
              </a:rPr>
              <a:t>Декомпозиция вкладов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219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99ADC2"/>
                </a:solidFill>
                <a:latin typeface="Arial"/>
              </a:rPr>
              <a:t>................................................................................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0A1628"/>
                </a:solidFill>
                <a:latin typeface="Georgia"/>
              </a:rPr>
              <a:t>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2606040"/>
            <a:ext cx="8869680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2606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5A46D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51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A1628"/>
                </a:solidFill>
                <a:latin typeface="Georgia"/>
              </a:rPr>
              <a:t>Методология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791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99ADC2"/>
                </a:solidFill>
                <a:latin typeface="Arial"/>
              </a:rPr>
              <a:t>................................................................................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51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0A1628"/>
                </a:solidFill>
                <a:latin typeface="Georgia"/>
              </a:rPr>
              <a:t>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" y="3063240"/>
            <a:ext cx="8869680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3063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5A46D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089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A1628"/>
                </a:solidFill>
                <a:latin typeface="Georgia"/>
              </a:rPr>
              <a:t>Данные и качество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363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99ADC2"/>
                </a:solidFill>
                <a:latin typeface="Arial"/>
              </a:rPr>
              <a:t>................................................................................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0A1628"/>
                </a:solidFill>
                <a:latin typeface="Georgia"/>
              </a:rPr>
              <a:t>12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" y="3520440"/>
            <a:ext cx="8869680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" y="35204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5A46D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5661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A1628"/>
                </a:solidFill>
                <a:latin typeface="Georgia"/>
              </a:rPr>
              <a:t>Приложение и источники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935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99ADC2"/>
                </a:solidFill>
                <a:latin typeface="Arial"/>
              </a:rPr>
              <a:t>................................................................................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0A1628"/>
                </a:solidFill>
                <a:latin typeface="Georgia"/>
              </a:rPr>
              <a:t>13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3977639"/>
            <a:ext cx="8869680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875520" y="1691640"/>
            <a:ext cx="1950415" cy="365760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1874520"/>
            <a:ext cx="1584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ЧТЕНИЕ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0" y="2121408"/>
            <a:ext cx="914400" cy="0"/>
          </a:xfrm>
          <a:prstGeom prst="line">
            <a:avLst/>
          </a:prstGeom>
          <a:ln w="635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0" y="23317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Страниц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2331720"/>
            <a:ext cx="76169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60603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Разделов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2606039"/>
            <a:ext cx="76169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880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MQS модели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2880359"/>
            <a:ext cx="76169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83 /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15467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Данные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3154679"/>
            <a:ext cx="76169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янв 2022 – дек 2025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01 / 05 .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48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ОТЧЁТ ЗА 60 СЕКУНД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0A1628"/>
                </a:solidFill>
                <a:latin typeface="Georgia"/>
              </a:rPr>
              <a:t>Пять находок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37160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783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C5A46D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A1628"/>
                </a:solidFill>
                <a:latin typeface="Georgia"/>
              </a:rPr>
              <a:t>tv - 38% медиа-вклада при 63% бюджета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ROI 1.1× средневзвешенный по каналам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624328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71576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C5A46D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15768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A1628"/>
                </a:solidFill>
                <a:latin typeface="Georgia"/>
              </a:rPr>
              <a:t>performance - самый эффективный канал, ROI 2.9×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18687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Текущий бюджет на нём 4%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3557015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3648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C5A46D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48456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A1628"/>
                </a:solidFill>
                <a:latin typeface="Georgia"/>
              </a:rPr>
              <a:t>Рекомендация: перераспределить 73 млн из digital в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513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Ожидаемый прирост ROAS: +0.5 пп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4489704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45811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C5A46D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81144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A1628"/>
                </a:solidFill>
                <a:latin typeface="Georgia"/>
              </a:rPr>
              <a:t>Портфель: 2 канала к росту, 2 канала к сокращению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840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Из 4 активных каналов - чёткая рекомендация по каждому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5422392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551383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 i="0">
                <a:solidFill>
                  <a:srgbClr val="C5A46D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13831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A1628"/>
                </a:solidFill>
                <a:latin typeface="Georgia"/>
              </a:rPr>
              <a:t>Качество модели: MQS 83/100 – хорошее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6016751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Можно опираться на рекомендации в планировании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01 / 05 .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48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601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tv остаётся основным драйвером, но эффективность требует проверки насыщения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55448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743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ДОЛЯ TV В ИНКРЕМЕНТАЛЬНЫХ ПРОДАЖАХ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297180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301752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0" i="0">
                <a:solidFill>
                  <a:srgbClr val="0A1628"/>
                </a:solidFill>
                <a:latin typeface="Georgia"/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4508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При 63% доли бюджета. ROI портфеля 1.14× средневзвешенный.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834640"/>
            <a:ext cx="0" cy="2377440"/>
          </a:xfrm>
          <a:prstGeom prst="line">
            <a:avLst/>
          </a:prstGeom>
          <a:ln w="3175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2834640"/>
            <a:ext cx="56080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 i="1">
                <a:solidFill>
                  <a:srgbClr val="1E3A5F"/>
                </a:solidFill>
                <a:latin typeface="Georgia"/>
              </a:rPr>
              <a:t>Каждый рубль в performance возвращает больше, чем в tv. Сигнал к перераспределению части бюджета.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03520"/>
            <a:ext cx="5608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547090"/>
                </a:solidFill>
                <a:latin typeface="Arial"/>
              </a:rPr>
              <a:t>ВЫВОД ИЗ MMM-ДЕКОМПОЗИЦИИ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281928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1">
                <a:solidFill>
                  <a:srgbClr val="547090"/>
                </a:solidFill>
                <a:latin typeface="Arial"/>
              </a:rPr>
              <a:t>Источник: Bayesian MMM · aurora-mmm-6697593d648b; данные Synth Fmcg янв 2022 – дек 2025.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01 / 05 .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48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РЕКОМЕНДАЦИЯ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60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Перераспределить 73 млн руб в performance - +0 пп к ROAS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50876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" y="2148839"/>
            <a:ext cx="0" cy="457200"/>
          </a:xfrm>
          <a:prstGeom prst="line">
            <a:avLst/>
          </a:prstGeom>
          <a:ln w="25400">
            <a:solidFill>
              <a:srgbClr val="99A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1031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7090"/>
                </a:solidFill>
                <a:latin typeface="Arial"/>
              </a:rPr>
              <a:t>СИТУАЦИЯ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2103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Synth Fmcg размещает 1078 млн ₽ за период янв 2022 – дек 2025 через 4 активных канала. Средневзвешенный ROI 1.1×, MQS модели 83/100.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697479"/>
            <a:ext cx="0" cy="640081"/>
          </a:xfrm>
          <a:prstGeom prst="line">
            <a:avLst/>
          </a:prstGeom>
          <a:ln w="25400">
            <a:solidFill>
              <a:srgbClr val="99A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7090"/>
                </a:solidFill>
                <a:latin typeface="Arial"/>
              </a:rPr>
              <a:t>ПРОБЛЕМА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6517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tv занимает 63% бюджета, но даёт 38% эффекта. по mROAS performance опережает (2.9×). tv тянут портфель вниз. Портфель требует перебалансировки.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3429000"/>
            <a:ext cx="0" cy="411480"/>
          </a:xfrm>
          <a:prstGeom prst="line">
            <a:avLst/>
          </a:prstGeom>
          <a:ln w="3810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3832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ВОПРОС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33832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1">
                <a:solidFill>
                  <a:srgbClr val="0A1628"/>
                </a:solidFill>
                <a:latin typeface="Arial"/>
              </a:rPr>
              <a:t>Как перераспределить бюджет, чтобы поднять ROAS без снижения охвата знания?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3931920"/>
            <a:ext cx="0" cy="457200"/>
          </a:xfrm>
          <a:prstGeom prst="line">
            <a:avLst/>
          </a:prstGeom>
          <a:ln w="25400">
            <a:solidFill>
              <a:srgbClr val="99A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8862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7090"/>
                </a:solidFill>
                <a:latin typeface="Arial"/>
              </a:rPr>
              <a:t>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3886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Перераспределить 73 млн ₽ из digital в performance; остановить tv.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4480559"/>
            <a:ext cx="0" cy="2011681"/>
          </a:xfrm>
          <a:prstGeom prst="line">
            <a:avLst/>
          </a:prstGeom>
          <a:ln w="25400">
            <a:solidFill>
              <a:srgbClr val="99A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43484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7090"/>
                </a:solidFill>
                <a:latin typeface="Arial"/>
              </a:rPr>
              <a:t>РЕКОМЕНДАЦИИ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4434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5A46D"/>
                </a:solidFill>
                <a:latin typeface="Georgia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44348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Перераспределить бюджет.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46634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 i="0">
                <a:solidFill>
                  <a:srgbClr val="1E3A5F"/>
                </a:solidFill>
                <a:latin typeface="Arial"/>
              </a:rPr>
              <a:t>73 млн ₽ из digital в performance. Отложенный эффект (adstock) компенсирует краткосрочный спад охвата.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79" y="5029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5A46D"/>
                </a:solidFill>
                <a:latin typeface="Georgia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79" y="502920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Контролировать насыщение tv.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79" y="52578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 i="0">
                <a:solidFill>
                  <a:srgbClr val="1E3A5F"/>
                </a:solidFill>
                <a:latin typeface="Arial"/>
              </a:rPr>
              <a:t>Наращивание трат сверх текущего уровня даёт убывающую отдачу (Hill-насыщение) - отслеживать mROAS при изменениях бюджета.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5623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5A46D"/>
                </a:solidFill>
                <a:latin typeface="Georgia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56235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Сверить прогноз с фактом после следующего периода.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79" y="58521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 i="0">
                <a:solidFill>
                  <a:srgbClr val="1E3A5F"/>
                </a:solidFill>
                <a:latin typeface="Arial"/>
              </a:rPr>
              <a:t>Обновить модель новыми данными и подтвердить рекомендации. Ожидаемый прирост ROAS: +0.5 пп - проверить фактом.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7548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ОЖИДАЕМЫЙ ЭФФЕКТ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200" y="5001768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01200" y="5074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0" i="0">
                <a:solidFill>
                  <a:srgbClr val="0A1628"/>
                </a:solidFill>
                <a:latin typeface="Georgia"/>
              </a:rPr>
              <a:t>+0 пп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76072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47090"/>
                </a:solidFill>
                <a:latin typeface="Arial"/>
              </a:rPr>
              <a:t>Прогнозный ROAS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01 / 05 .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3152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Факт против прогноза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46304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1371600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ФАКТИЧЕСКИЕ И ПРОГНОЗНЫЕ ЗНАЧЕНИЯ ПО ПЕРИОДАМ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691640"/>
          <a:ext cx="11460175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62356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00" b="0" i="1">
                <a:solidFill>
                  <a:srgbClr val="547090"/>
                </a:solidFill>
                <a:latin typeface="Arial"/>
              </a:rPr>
              <a:t>Норма – прогноз повторяет форму факта, включая пики и провалы. Систематическое расхождение в отдельные периоды – сигнал проверить эти периоды отдельно.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02 / 05 . ДЕКОМПОЗИЦИЯ ВКЛАДОВ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3152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Декомпозиция продаж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46304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1371600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БАЗОВЫЙ СПРОС И ВКЛАД КАЖДОГО КАНАЛА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691640"/>
          <a:ext cx="11460175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62356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00" b="0" i="1">
                <a:solidFill>
                  <a:srgbClr val="547090"/>
                </a:solidFill>
                <a:latin typeface="Arial"/>
              </a:rPr>
              <a:t>Каждая полоса – самостоятельное значение, не часть общего столбца: базовый спрос – продажи, которые были бы без рекламы, следующие полосы – вклад каждого канала сверх него, «Итого» – их сумма отдельной полосой (не складывайте полосы между собой вручную).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02 / 05 . ДЕКОМПОЗИЦИЯ ВКЛАДОВ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8348"/>
            <a:ext cx="182880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512064"/>
            <a:ext cx="1120414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i="0">
                <a:solidFill>
                  <a:srgbClr val="C5A46D"/>
                </a:solidFill>
                <a:latin typeface="Arial"/>
              </a:rPr>
              <a:t>02 · ДЕКОМПОЗИЦИЯ ВКЛАДОВ</a:t>
            </a:r>
            <a:r>
              <a:rPr sz="900" b="0" i="1">
                <a:solidFill>
                  <a:srgbClr val="547090"/>
                </a:solidFill>
                <a:latin typeface="Arial"/>
              </a:rPr>
              <a:t>  –  tv даёт 38% медиа-вклада при 63% бюджета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114601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i="0">
                <a:solidFill>
                  <a:srgbClr val="0A1628"/>
                </a:solidFill>
                <a:latin typeface="Georgia"/>
              </a:rPr>
              <a:t>Нарастить performance и сократить digital - +0 пп к ROAS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73736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1783080"/>
            <a:ext cx="664690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1E3A5F"/>
                </a:solidFill>
                <a:latin typeface="Arial"/>
              </a:rPr>
              <a:t>MROAS ПО КАНАЛАМ / МУЛЬТИПЛИКАТОР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664690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547090"/>
                </a:solidFill>
                <a:latin typeface="Arial"/>
              </a:rPr>
              <a:t>Marginal ROI последнего вложенного рубля, янв 2022 – дек 2025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2468880"/>
          <a:ext cx="6646901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26661" y="22677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 i="1">
                <a:solidFill>
                  <a:srgbClr val="547090"/>
                </a:solidFill>
                <a:latin typeface="Arial"/>
              </a:rPr>
              <a:t>1.0× = безубыточность  ·  выше = прибыльно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281928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1">
                <a:solidFill>
                  <a:srgbClr val="547090"/>
                </a:solidFill>
                <a:latin typeface="Arial"/>
              </a:rPr>
              <a:t>Источник: Bayesian MMM Aurora AI · aurora-mmm-6697593d648b; медианы апостериорного распределения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8421" y="1783080"/>
            <a:ext cx="444751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ЧТО ЭТО ЗНАЧИТ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78421" y="2057400"/>
            <a:ext cx="91440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78421" y="2286000"/>
            <a:ext cx="444751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 i="0">
                <a:solidFill>
                  <a:srgbClr val="0A1628"/>
                </a:solidFill>
                <a:latin typeface="Arial"/>
              </a:rPr>
              <a:t>performance - Масштабировать.</a:t>
            </a:r>
            <a:r>
              <a:rPr sz="1100" b="0" i="0">
                <a:solidFill>
                  <a:srgbClr val="1E3A5F"/>
                </a:solidFill>
                <a:latin typeface="Arial"/>
              </a:rPr>
              <a:t> Оптимизатор рекомендует +86%, 2.86× - недо-инвестирован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1261" y="2313432"/>
            <a:ext cx="0" cy="1097279"/>
          </a:xfrm>
          <a:prstGeom prst="line">
            <a:avLst/>
          </a:prstGeom>
          <a:ln w="2540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78421" y="3520440"/>
            <a:ext cx="444751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 i="0">
                <a:solidFill>
                  <a:srgbClr val="0A1628"/>
                </a:solidFill>
                <a:latin typeface="Arial"/>
              </a:rPr>
              <a:t>tv - Сократить.</a:t>
            </a:r>
            <a:r>
              <a:rPr sz="1100" b="0" i="0">
                <a:solidFill>
                  <a:srgbClr val="1E3A5F"/>
                </a:solidFill>
                <a:latin typeface="Arial"/>
              </a:rPr>
              <a:t> 0.67× глубоко ниже точки безубыточности – каждый рубль приносит убыток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41261" y="3547872"/>
            <a:ext cx="0" cy="1097280"/>
          </a:xfrm>
          <a:prstGeom prst="line">
            <a:avLst/>
          </a:prstGeom>
          <a:ln w="2540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02 / 05 . ДЕКОМПОЗИЦИЯ ВКЛАДОВ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48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ПОРТФЕЛЬ КАНАЛОВ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Все каналы работают - консолидация не требуется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46304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1783080"/>
            <a:ext cx="309747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Arial"/>
              </a:rPr>
              <a:t>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4678" y="1783080"/>
            <a:ext cx="17023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БЮДЖЕТ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4678" y="2029967"/>
            <a:ext cx="170232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₽ млн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8444" y="1783080"/>
            <a:ext cx="17023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ВКЛАД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8444" y="2029967"/>
            <a:ext cx="170232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₽ млн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2211" y="1783080"/>
            <a:ext cx="13037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MROAS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2211" y="2029967"/>
            <a:ext cx="13037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7363" y="1783080"/>
            <a:ext cx="140336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A1628"/>
                </a:solidFill>
                <a:latin typeface="Arial"/>
              </a:rPr>
              <a:t>ДОЛЯ ЭФФЕКТА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7363" y="2029967"/>
            <a:ext cx="140336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7888" y="1783080"/>
            <a:ext cx="17023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Arial"/>
              </a:rPr>
              <a:t>ВЕРДИКТ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2286000"/>
            <a:ext cx="11460175" cy="0"/>
          </a:xfrm>
          <a:prstGeom prst="line">
            <a:avLst/>
          </a:prstGeom>
          <a:ln w="9525"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2377440"/>
            <a:ext cx="30974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4678" y="237744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678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8444" y="237744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473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2211" y="2377440"/>
            <a:ext cx="13037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0.7</a:t>
            </a:r>
            <a:r>
              <a:rPr sz="800" b="0" i="0">
                <a:solidFill>
                  <a:srgbClr val="547090"/>
                </a:solidFill>
                <a:latin typeface="Arial"/>
              </a:rPr>
              <a:t> [0.0 - 1.5]</a:t>
            </a:r>
            <a:r>
              <a:rPr sz="700" b="0" i="0">
                <a:solidFill>
                  <a:srgbClr val="C5A46D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7363" y="2377440"/>
            <a:ext cx="140336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7888" y="237744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5A46D"/>
                </a:solidFill>
                <a:latin typeface="Arial"/>
              </a:rPr>
              <a:t>Остановить (предв.)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" y="2670048"/>
            <a:ext cx="11460175" cy="0"/>
          </a:xfrm>
          <a:prstGeom prst="line">
            <a:avLst/>
          </a:prstGeom>
          <a:ln w="3175">
            <a:solidFill>
              <a:srgbClr val="D6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2697480"/>
            <a:ext cx="30974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ooh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4678" y="269748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126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8444" y="269748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311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2211" y="2697480"/>
            <a:ext cx="13037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1.4</a:t>
            </a:r>
            <a:r>
              <a:rPr sz="800" b="0" i="0">
                <a:solidFill>
                  <a:srgbClr val="547090"/>
                </a:solidFill>
                <a:latin typeface="Arial"/>
              </a:rPr>
              <a:t> [0.0 - 2.6]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7363" y="2697480"/>
            <a:ext cx="140336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7888" y="269748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Увеличить (предв.)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" y="2990088"/>
            <a:ext cx="11460175" cy="0"/>
          </a:xfrm>
          <a:prstGeom prst="line">
            <a:avLst/>
          </a:prstGeom>
          <a:ln w="3175">
            <a:solidFill>
              <a:srgbClr val="D6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480" y="3017520"/>
            <a:ext cx="30974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4678" y="301752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234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8444" y="301752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2211" y="3017520"/>
            <a:ext cx="13037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0.7</a:t>
            </a:r>
            <a:r>
              <a:rPr sz="800" b="0" i="0">
                <a:solidFill>
                  <a:srgbClr val="547090"/>
                </a:solidFill>
                <a:latin typeface="Arial"/>
              </a:rPr>
              <a:t> [0.0 - 1.2]</a:t>
            </a:r>
            <a:r>
              <a:rPr sz="700" b="0" i="0">
                <a:solidFill>
                  <a:srgbClr val="C5A46D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7363" y="3017520"/>
            <a:ext cx="140336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7888" y="301752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5A46D"/>
                </a:solidFill>
                <a:latin typeface="Arial"/>
              </a:rPr>
              <a:t>Остановить (предв.)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5760" y="3310128"/>
            <a:ext cx="11460175" cy="0"/>
          </a:xfrm>
          <a:prstGeom prst="line">
            <a:avLst/>
          </a:prstGeom>
          <a:ln w="3175">
            <a:solidFill>
              <a:srgbClr val="D6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1480" y="3337560"/>
            <a:ext cx="30974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4678" y="333756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8444" y="333756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194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2211" y="3337560"/>
            <a:ext cx="13037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0A1628"/>
                </a:solidFill>
                <a:latin typeface="Arial"/>
              </a:rPr>
              <a:t>2.9</a:t>
            </a:r>
            <a:r>
              <a:rPr sz="800" b="0" i="0">
                <a:solidFill>
                  <a:srgbClr val="547090"/>
                </a:solidFill>
                <a:latin typeface="Arial"/>
              </a:rPr>
              <a:t> [0.0 - 5.3]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7363" y="3337560"/>
            <a:ext cx="140336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0A1628"/>
                </a:solidFill>
                <a:latin typeface="Arial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7888" y="3337560"/>
            <a:ext cx="170232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Увеличить (предв.)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65760" y="3630168"/>
            <a:ext cx="11460175" cy="0"/>
          </a:xfrm>
          <a:prstGeom prst="line">
            <a:avLst/>
          </a:prstGeom>
          <a:ln w="3175">
            <a:solidFill>
              <a:srgbClr val="D6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11480" y="3675887"/>
            <a:ext cx="309747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A1628"/>
                </a:solidFill>
                <a:latin typeface="Arial"/>
              </a:rPr>
              <a:t>ИТОГО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54678" y="3675887"/>
            <a:ext cx="17023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A1628"/>
                </a:solidFill>
                <a:latin typeface="Arial"/>
              </a:rPr>
              <a:t>1078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8444" y="3675887"/>
            <a:ext cx="17023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A1628"/>
                </a:solidFill>
                <a:latin typeface="Arial"/>
              </a:rPr>
              <a:t>1231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42211" y="3675887"/>
            <a:ext cx="13037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A1628"/>
                </a:solidFill>
                <a:latin typeface="Arial"/>
              </a:rPr>
              <a:t>1.14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37363" y="3675887"/>
            <a:ext cx="140336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A1628"/>
                </a:solidFill>
                <a:latin typeface="Arial"/>
              </a:rPr>
              <a:t>100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65760" y="3950208"/>
            <a:ext cx="11460175" cy="0"/>
          </a:xfrm>
          <a:prstGeom prst="line">
            <a:avLst/>
          </a:prstGeom>
          <a:ln w="9525"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5760" y="576072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547090"/>
                </a:solidFill>
                <a:latin typeface="Arial"/>
              </a:rPr>
              <a:t>ПРИМЕЧАНИЯ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897880"/>
            <a:ext cx="7589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i="0">
                <a:solidFill>
                  <a:srgbClr val="C5A46D"/>
                </a:solidFill>
                <a:latin typeface="Arial"/>
              </a:rPr>
              <a:t>1</a:t>
            </a:r>
            <a:r>
              <a:rPr sz="700" b="0" i="1">
                <a:solidFill>
                  <a:srgbClr val="547090"/>
                </a:solidFill>
                <a:latin typeface="Arial"/>
              </a:rPr>
              <a:t>  tv: ниже точки безубыточности по mROAS; рекомендовано остановить или перевести в другие каналы.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025896"/>
            <a:ext cx="7589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00" b="1" i="0">
                <a:solidFill>
                  <a:srgbClr val="C5A46D"/>
                </a:solidFill>
                <a:latin typeface="Arial"/>
              </a:rPr>
              <a:t>2</a:t>
            </a:r>
            <a:r>
              <a:rPr sz="700" b="0" i="1">
                <a:solidFill>
                  <a:srgbClr val="547090"/>
                </a:solidFill>
                <a:latin typeface="Arial"/>
              </a:rPr>
              <a:t>  digital: ниже точки безубыточности по mROAS; рекомендовано остановить или перевести в другие каналы.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281928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1">
                <a:solidFill>
                  <a:srgbClr val="547090"/>
                </a:solidFill>
                <a:latin typeface="Arial"/>
              </a:rPr>
              <a:t>Источник: Bayesian MMM Aurora AI · aurora-mmm-6697593d648b; 90% HDI-интервалы, медианы апостериорного распределения.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02 / 05 . ДЕКОМПОЗИЦИЯ ВКЛАДОВ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5486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ДИНАМИКА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tv – 38% медиа-вклада: контролировать динамику и признаки насыщения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46304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783080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1E3A5F"/>
                </a:solidFill>
                <a:latin typeface="Arial"/>
              </a:rPr>
              <a:t>ПРОДАЖИ ПО ПЕРИОДАМ /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9967"/>
            <a:ext cx="1146017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547090"/>
                </a:solidFill>
                <a:latin typeface="Arial"/>
              </a:rPr>
              <a:t>База + Медиа · 2022-01-31 - 2025-12-31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2514600"/>
          <a:ext cx="11460175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281928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1">
                <a:solidFill>
                  <a:srgbClr val="547090"/>
                </a:solidFill>
                <a:latin typeface="Arial"/>
              </a:rPr>
              <a:t>Источник: Synth Fmcg, продажи за период 2022-01-31 - 2025-12-31; декомпозиция Bayesian MMM · aurora-mmm-6697593d648b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03 / 05 . МЕТОДОЛОГИЯ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8348"/>
            <a:ext cx="182880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512064"/>
            <a:ext cx="1120414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i="0">
                <a:solidFill>
                  <a:srgbClr val="C5A46D"/>
                </a:solidFill>
                <a:latin typeface="Arial"/>
              </a:rPr>
              <a:t>03 · МЕТОДОЛОГИЯ</a:t>
            </a:r>
            <a:r>
              <a:rPr sz="900" b="0" i="1">
                <a:solidFill>
                  <a:srgbClr val="547090"/>
                </a:solidFill>
                <a:latin typeface="Arial"/>
              </a:rPr>
              <a:t>  –  Байесовская MMM с отложенным эффектом и Hill-насыщением – прозрачная модель с правдоподобными диапазонами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" b="1" i="0">
                <a:solidFill>
                  <a:srgbClr val="0A1628"/>
                </a:solidFill>
                <a:latin typeface="Georgia"/>
              </a:rPr>
              <a:t>Байесовская MMM с отложенным эффектом (adstock) + Hill-насыщением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463040"/>
            <a:ext cx="11460175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1691640"/>
            <a:ext cx="55008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СПЕЦИФИКАЦИЯ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1947672"/>
            <a:ext cx="91440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2103120"/>
            <a:ext cx="5500884" cy="210312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504368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y_t = baseline_t + Σ β_i · sat(adstock(x_i,t)) + ε_t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547090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adstock(x, θ) = x_t + θ·x_{t-1} + θ²·x_{t-2} + …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   θ_i ∈ [0, 0.95]  (geometric decay)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547090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sat(z, α, γ) = z^α / (z^α + γ^α)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   Hill function, half-max = γ_i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547090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β_i ~ HalfNormal (слабоинформативный) · CPP-normalized</a:t>
            </a:r>
          </a:p>
          <a:p>
            <a:pPr>
              <a:lnSpc>
                <a:spcPct val="125000"/>
              </a:lnSpc>
            </a:pPr>
            <a:r>
              <a:rPr sz="1000" b="0" i="0">
                <a:solidFill>
                  <a:srgbClr val="0A1628"/>
                </a:solidFill>
                <a:latin typeface="Consolas"/>
              </a:rPr>
              <a:t>ε_t ~ Normal(0, 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55008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ДИАГНОСТИКА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690872"/>
            <a:ext cx="91440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4800600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1246" y="4800600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0.852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4965192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4965192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MAPE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1246" y="4965192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4.0%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5129783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5129783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R-hat (max)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1246" y="5129783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1.000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5294375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5294375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ESS (min)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1246" y="5294375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884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" y="5458967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" y="5458967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Отпечаток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1246" y="5458967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2cd9443a43e0…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5623559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5623559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Зерно генератора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1246" y="5623559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42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" y="5788151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5788151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Отпечаток данных (содержимое)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1246" y="5788151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e3cc4f62aa8e…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5952743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" y="5952743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Перенос эффекта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91246" y="5952743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по каналам различается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" y="6117335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5760" y="6117335"/>
            <a:ext cx="302548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Совпадение расчётов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1246" y="6117335"/>
            <a:ext cx="247539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проверка стороннего – ветвь «другое зерно при полном расчёте»: расхождение до 5 %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5760" y="6281927"/>
            <a:ext cx="5500884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23844" y="1691640"/>
            <a:ext cx="55020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ЧТО МОДЕЛЬ НЕ УЧИТЫВАЕТ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23844" y="1947672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06724" y="2148840"/>
            <a:ext cx="53192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Долгосрочные бренд-эффекты (&gt;26 недель).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6724" y="2395728"/>
            <a:ext cx="53192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47090"/>
                </a:solidFill>
                <a:latin typeface="Arial"/>
              </a:rPr>
              <a:t>Модель учитывает краткосрочный и среднесрочный эффект, но не долгосрочное строительство бренда.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3844" y="2212848"/>
            <a:ext cx="73152" cy="73152"/>
          </a:xfrm>
          <a:prstGeom prst="rect">
            <a:avLst/>
          </a:prstGeom>
          <a:solidFill>
            <a:srgbClr val="54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6724" y="2880360"/>
            <a:ext cx="53192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Каннибализация между категориями.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6724" y="3127248"/>
            <a:ext cx="53192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47090"/>
                </a:solidFill>
                <a:latin typeface="Arial"/>
              </a:rPr>
              <a:t>Если у клиента несколько SKU - модель считает их единым KPI.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23844" y="2944368"/>
            <a:ext cx="73152" cy="73152"/>
          </a:xfrm>
          <a:prstGeom prst="rect">
            <a:avLst/>
          </a:prstGeom>
          <a:solidFill>
            <a:srgbClr val="54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6724" y="3611880"/>
            <a:ext cx="53192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Вариация качества креативов.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06724" y="3858768"/>
            <a:ext cx="53192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47090"/>
                </a:solidFill>
                <a:latin typeface="Arial"/>
              </a:rPr>
              <a:t>Влияние качества роликов на ROI не моделируется - предполагается постоянным.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3844" y="3675888"/>
            <a:ext cx="73152" cy="73152"/>
          </a:xfrm>
          <a:prstGeom prst="rect">
            <a:avLst/>
          </a:prstGeom>
          <a:solidFill>
            <a:srgbClr val="54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06724" y="4343400"/>
            <a:ext cx="53192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Конкурентная медиа-активность.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6724" y="4590288"/>
            <a:ext cx="53192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47090"/>
                </a:solidFill>
                <a:latin typeface="Arial"/>
              </a:rPr>
              <a:t>Доля голоса (SoV) конкурентов в модели отсутствует - оценка справедлива для стабильной категории.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3844" y="4407408"/>
            <a:ext cx="73152" cy="73152"/>
          </a:xfrm>
          <a:prstGeom prst="rect">
            <a:avLst/>
          </a:prstGeom>
          <a:solidFill>
            <a:srgbClr val="54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6724" y="5074920"/>
            <a:ext cx="53192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A1628"/>
                </a:solidFill>
                <a:latin typeface="Arial"/>
              </a:rPr>
              <a:t>Макроэкономические шоки.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06724" y="5321808"/>
            <a:ext cx="53192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 i="0">
                <a:solidFill>
                  <a:srgbClr val="547090"/>
                </a:solidFill>
                <a:latin typeface="Arial"/>
              </a:rPr>
              <a:t>Экстремальные события (валютные скачки, регуляторные изменения) вне области анализа.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3844" y="5138928"/>
            <a:ext cx="73152" cy="73152"/>
          </a:xfrm>
          <a:prstGeom prst="rect">
            <a:avLst/>
          </a:prstGeom>
          <a:solidFill>
            <a:srgbClr val="54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281928"/>
            <a:ext cx="7589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 i="1">
                <a:solidFill>
                  <a:srgbClr val="547090"/>
                </a:solidFill>
                <a:latin typeface="Arial"/>
              </a:rPr>
              <a:t>Приоры: слабоинформативные, на основе индустриальных бенчмарков Bayesian MMM.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04 / 05 . ДАННЫЕ И 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8348"/>
            <a:ext cx="182880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512064"/>
            <a:ext cx="1120414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i="0">
                <a:solidFill>
                  <a:srgbClr val="C5A46D"/>
                </a:solidFill>
                <a:latin typeface="Arial"/>
              </a:rPr>
              <a:t>04 · ДАННЫЕ И КАЧЕСТВО</a:t>
            </a:r>
            <a:r>
              <a:rPr sz="900" b="0" i="1">
                <a:solidFill>
                  <a:srgbClr val="547090"/>
                </a:solidFill>
                <a:latin typeface="Arial"/>
              </a:rPr>
              <a:t>  –  Данные охватывают янв 2022 – дек 2025, бюджет 1078 млн руб - MQS модели 83/100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0A1628"/>
                </a:solidFill>
                <a:latin typeface="Georgia"/>
              </a:rPr>
              <a:t>Источники и качество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1691640"/>
            <a:ext cx="4114800" cy="356616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114800" cy="54864"/>
          </a:xfrm>
          <a:prstGeom prst="rect">
            <a:avLst/>
          </a:prstGeom>
          <a:solidFill>
            <a:srgbClr val="C5A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5A46D"/>
                </a:solidFill>
                <a:latin typeface="Arial"/>
              </a:rPr>
              <a:t>ОЦЕНКА КАЧЕСТВА МОДЕЛИ (MQS)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828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i="0">
                <a:solidFill>
                  <a:srgbClr val="0A1628"/>
                </a:solidFill>
                <a:latin typeface="Georgia"/>
              </a:rPr>
              <a:t>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697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547090"/>
                </a:solidFill>
                <a:latin typeface="Georgia"/>
              </a:rPr>
              <a:t>/ 100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023360"/>
            <a:ext cx="3474720" cy="0"/>
          </a:xfrm>
          <a:prstGeom prst="line">
            <a:avLst/>
          </a:prstGeom>
          <a:ln w="6350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1605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0A1628"/>
                </a:solidFill>
                <a:latin typeface="Arial"/>
              </a:rPr>
              <a:t>хорошее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7818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7612" y="4526280"/>
            <a:ext cx="9555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526280"/>
            <a:ext cx="7818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MAPE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972" y="4526280"/>
            <a:ext cx="9555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4.0%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27448"/>
            <a:ext cx="7818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R-hat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7612" y="4727448"/>
            <a:ext cx="9555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727448"/>
            <a:ext cx="7818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547090"/>
                </a:solidFill>
                <a:latin typeface="Arial"/>
              </a:rPr>
              <a:t>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4972" y="4727448"/>
            <a:ext cx="9555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884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691640"/>
            <a:ext cx="6888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ОХВАТ И ПОЛНОТА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37760" y="1947672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37760" y="2194560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Период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438" y="2194560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янв 2022 – дек 2025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37760" y="2487168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7760" y="2505456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Наблюдений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438" y="2505456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48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2798064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37760" y="2816352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Активных каналов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438" y="2816352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37760" y="3108960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37760" y="3127248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Частота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438" y="3127248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Ежемесячно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37760" y="3419856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937760" y="3438144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Разрывы оси дат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438" y="3438144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нет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0" y="3730752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37760" y="3749039"/>
            <a:ext cx="30996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7090"/>
                </a:solidFill>
                <a:latin typeface="Arial"/>
              </a:rPr>
              <a:t>Режим анализа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7438" y="3749039"/>
            <a:ext cx="37884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A1628"/>
                </a:solidFill>
                <a:latin typeface="Arial"/>
              </a:rPr>
              <a:t>ROI (деньги) · KPI: денежный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37760" y="4041648"/>
            <a:ext cx="6888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937760" y="4105655"/>
            <a:ext cx="68881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5A46D"/>
                </a:solidFill>
                <a:latin typeface="Arial"/>
              </a:rPr>
              <a:t>Вердикт надёжности: требует осторожности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4864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5A46D"/>
                </a:solidFill>
                <a:latin typeface="Arial"/>
              </a:rPr>
              <a:t>ИСТОЧНИКИ ДАННЫХ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65760" y="5687568"/>
            <a:ext cx="731520" cy="0"/>
          </a:xfrm>
          <a:prstGeom prst="line">
            <a:avLst/>
          </a:prstGeom>
          <a:ln w="6350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5760" y="57790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00" b="1" i="0">
                <a:solidFill>
                  <a:srgbClr val="C5A46D"/>
                </a:solidFill>
                <a:latin typeface="Arial"/>
              </a:rPr>
              <a:t>1.  </a:t>
            </a:r>
            <a:r>
              <a:rPr sz="900" b="0" i="0">
                <a:solidFill>
                  <a:srgbClr val="0A1628"/>
                </a:solidFill>
                <a:latin typeface="Arial"/>
              </a:rPr>
              <a:t>Данные Synth Fmcg: файл, загруженный в проект (медиа-траты и продажи, наблюдений: 48)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05 / 05 . ПРИЛОЖЕНИЕ И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8348"/>
            <a:ext cx="182880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512064"/>
            <a:ext cx="1120414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i="0">
                <a:solidFill>
                  <a:srgbClr val="C5A46D"/>
                </a:solidFill>
                <a:latin typeface="Arial"/>
              </a:rPr>
              <a:t>05 · ПРИЛОЖЕНИЕ И ИСТОЧНИКИ</a:t>
            </a:r>
            <a:r>
              <a:rPr sz="900" b="0" i="1">
                <a:solidFill>
                  <a:srgbClr val="547090"/>
                </a:solidFill>
                <a:latin typeface="Arial"/>
              </a:rPr>
              <a:t>  –  Глоссарий терминов, методологические ссылки и 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0" i="0">
                <a:solidFill>
                  <a:srgbClr val="0A1628"/>
                </a:solidFill>
                <a:latin typeface="Georgia"/>
              </a:rPr>
              <a:t>Глоссарий терминов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417320"/>
            <a:ext cx="2286000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1536192"/>
            <a:ext cx="114601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547090"/>
                </a:solidFill>
                <a:latin typeface="Georgia"/>
              </a:rPr>
              <a:t>Краткие определения ключевых терминов, используемых в отчёте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3576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МЕТОДОЛОГИЯ MMM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33172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51460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MMM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Marketing Mix Modeling - статистическая декомпозиция вклада каналов в продажи.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0837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Байесовский вывод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9125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Вероятностный подход: апостериорные распределения вместо точечных оценок.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02152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NUTS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85032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No-U-Turn Sampler - эффективный метод MCMC для многомерных распределений.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95928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NumPyro / JAX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78808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Python-стек для байесовских вычислений с компиляцией JIT.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89704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Априорное / апостериорное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72584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Исходные предположения → обновлённая оценка после данных.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8348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Adstock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16636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Отложенный эффект медиа: часть воздействия переносится на следующие периоды.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47725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Насыщение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66013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Убывающая отдача: кривая Хилла, S-образное насыщение эффекта.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7738" y="2103120"/>
            <a:ext cx="3576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КАЧЕСТВО МОДЕЛИ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07738" y="233172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07738" y="251460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7738" y="269748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Доля объяснённой моделью вариации продаж (0 до 1). Целевое &gt; 0.7.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7738" y="300837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MAPE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7738" y="319125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Средняя абсолютная процентная ошибка прогноза.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7738" y="3502152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R-hat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7738" y="3685032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Диагностика сходимости MCMC-цепей; целевое значение ≤ 1.01.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7738" y="3995928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7738" y="4178808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Effective Sample Size - число независимых выборок из апостериорного распределения.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7738" y="4489704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Правдоподобный диапазон (90% HDI)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7738" y="4672584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Байесовский интервал правдоподобия - в нём истинное значение лежит с 90% вероятностью.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7738" y="498348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MQS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7738" y="516636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Model Quality Score - композитный индекс качества Aurora (0-100).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7738" y="547725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Базовый / инкрементальный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7738" y="566013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Органические продажи без медиа и продажи, вызванные медиа-инвестициями.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9716" y="2103120"/>
            <a:ext cx="3576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МЕДИА-МЕТРИКИ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49716" y="2331720"/>
            <a:ext cx="109728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49716" y="251460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mROAS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9716" y="269748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Marginal ROAS - возврат с последнего вложенного рубля (×-коэффициент).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16" y="300837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ROI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9716" y="319125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Return on Investment - общая возвратность вложений (инкрементальный вклад / расход).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9716" y="3502152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TRP / GRP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9716" y="3685032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Target / Gross Rating Points - охват целевой аудитории в рейтинг-пунктах.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9716" y="3995928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CPP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9716" y="4178808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Cost per Point - стоимость одного рейтингового пункта в рублях.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9716" y="4489704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Охват (Reach)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9716" y="4672584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Процент целевой аудитории, встретивших рекламу минимум один раз.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9716" y="4983480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Доля голоса (SoV)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9716" y="5166360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Доля рекламного голоса бренда относительно конкурентов в категории.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9716" y="5477256"/>
            <a:ext cx="357621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0A1628"/>
                </a:solidFill>
                <a:latin typeface="Arial"/>
              </a:rPr>
              <a:t>Рекомендация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9716" y="5660136"/>
            <a:ext cx="35762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00" b="0" i="0">
                <a:solidFill>
                  <a:srgbClr val="547090"/>
                </a:solidFill>
                <a:latin typeface="Arial"/>
              </a:rPr>
              <a:t>Вердикт по каналу: Увеличить / Держать / Наблюдать / Сократить / Остановить.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5760" y="6583680"/>
            <a:ext cx="670560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547090"/>
                </a:solidFill>
                <a:latin typeface="Georgia"/>
              </a:rPr>
              <a:t>AURORA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93647" y="6603796"/>
            <a:ext cx="0" cy="93879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42415" y="6583680"/>
            <a:ext cx="262128" cy="134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547090"/>
                </a:solidFill>
                <a:latin typeface="Georgia"/>
              </a:rPr>
              <a:t>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A1628"/>
                </a:solidFill>
                <a:latin typeface="Arial"/>
              </a:rPr>
              <a:t>05 / 05 . ПРИЛОЖЕНИЕ И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286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1">
                <a:solidFill>
                  <a:srgbClr val="547090"/>
                </a:solidFill>
                <a:latin typeface="Arial"/>
              </a:rPr>
              <a:t>КОНФИДЕНЦИАЛЬНО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45720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114601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0" i="1">
                <a:solidFill>
                  <a:srgbClr val="0A1628"/>
                </a:solidFill>
                <a:latin typeface="Georgia"/>
              </a:rPr>
              <a:t>Решения, основанные на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14601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0" i="1">
                <a:solidFill>
                  <a:srgbClr val="8C7142"/>
                </a:solidFill>
                <a:latin typeface="Georgia"/>
              </a:rPr>
              <a:t>Не на интуиции.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657600"/>
            <a:ext cx="3200400" cy="0"/>
          </a:xfrm>
          <a:prstGeom prst="line">
            <a:avLst/>
          </a:prstGeom>
          <a:ln w="9525">
            <a:solidFill>
              <a:srgbClr val="C5A4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7307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C5A46D"/>
                </a:solidFill>
                <a:latin typeface="Arial"/>
              </a:rPr>
              <a:t>ДАЛЬШЕ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50208"/>
            <a:ext cx="114601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0A1628"/>
                </a:solidFill>
                <a:latin typeface="Georgia"/>
              </a:rPr>
              <a:t>Следующая волна анализа - после накопления новых данных.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4343400"/>
            <a:ext cx="4114800" cy="0"/>
          </a:xfrm>
          <a:prstGeom prst="line">
            <a:avLst/>
          </a:prstGeom>
          <a:ln w="25400">
            <a:solidFill>
              <a:srgbClr val="CC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4572000"/>
            <a:ext cx="114601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100" b="1" i="1">
                <a:solidFill>
                  <a:srgbClr val="1E3A5F"/>
                </a:solidFill>
                <a:latin typeface="Georgia"/>
              </a:rPr>
              <a:t>Медиабюджет - управляемый инструмент роста, а не статья затрат. </a:t>
            </a:r>
            <a:r>
              <a:rPr sz="1100" b="0" i="1">
                <a:solidFill>
                  <a:srgbClr val="547090"/>
                </a:solidFill>
                <a:latin typeface="Georgia"/>
              </a:rPr>
              <a:t>Байесовский вывод измеряет эффективность каналов вместе с границами неопределённости - это основа доверия к решениям. Методология следует отраслевым стандартам MMM; платформа масштабируется от квартального отчёта до ежемесячного мониторинга, от одной позиции до портфеля брендов.</a:t>
            </a:r>
          </a:p>
        </p:txBody>
      </p:sp>
      <p:pic>
        <p:nvPicPr>
          <p:cNvPr id="12" name="Picture 11" descr="brand_mark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7" y="589788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309360"/>
            <a:ext cx="1146017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547090"/>
                </a:solidFill>
                <a:latin typeface="Arial"/>
              </a:rPr>
              <a:t>© 2026 Aurora AI.  Не подлежит распространению без письменного согласия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6446520"/>
            <a:ext cx="11460175" cy="0"/>
          </a:xfrm>
          <a:prstGeom prst="line">
            <a:avLst/>
          </a:prstGeom>
          <a:ln w="3175">
            <a:solidFill>
              <a:srgbClr val="C8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0" y="6583680"/>
            <a:ext cx="121916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47090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Aurora AI Econometrica</Application>
  <PresentationFormat>On-screen Show (16:9)</PresentationFormat>
  <Paragraphs>355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ООО «Платформа Аврора»</Company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модели медиамикса</dc:title>
  <dc:subject>Моделирование медиамикса</dc:subject>
  <dc:creator>ООО «Платформа Аврора»</dc:creator>
  <cp:keywords/>
  <dc:description/>
  <cp:lastModifiedBy>ООО «Платформа Аврора»</cp:lastModifiedBy>
  <cp:revision>1</cp:revision>
  <dcterms:created xsi:type="dcterms:W3CDTF">2026-09-19T13:01:22Z</dcterms:created>
  <dcterms:modified xsi:type="dcterms:W3CDTF">2026-09-19T13:01:22Z</dcterms:modified>
  <cp:category>Конфиденциально</cp:category>
  <dc:language>ru-RU</dc:language>
</cp:coreProperties>
</file>